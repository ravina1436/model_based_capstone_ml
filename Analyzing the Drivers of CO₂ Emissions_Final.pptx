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CAF312-8B54-4D80-985B-2616DF8145D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A970974-E280-4794-87A5-C0AE7EDD9BB0}">
      <dgm:prSet phldrT="[Text]" custT="1"/>
      <dgm:spPr/>
      <dgm:t>
        <a:bodyPr/>
        <a:lstStyle/>
        <a:p>
          <a:pPr>
            <a:buNone/>
          </a:pPr>
          <a:r>
            <a:rPr lang="en-IN" sz="2000" b="1" dirty="0"/>
            <a:t>1. ANN (Before Tuning)</a:t>
          </a:r>
        </a:p>
        <a:p>
          <a:pPr>
            <a:buNone/>
          </a:pPr>
          <a:r>
            <a:rPr lang="en-US" sz="2000" dirty="0"/>
            <a:t>• R² = </a:t>
          </a:r>
          <a:r>
            <a:rPr lang="en-US" sz="2000" b="1" dirty="0"/>
            <a:t>-0.006</a:t>
          </a:r>
          <a:br>
            <a:rPr lang="en-US" sz="2000" dirty="0"/>
          </a:br>
          <a:r>
            <a:rPr lang="en-US" sz="2000" dirty="0"/>
            <a:t>• MAE = </a:t>
          </a:r>
          <a:r>
            <a:rPr lang="en-US" sz="2000" b="1" dirty="0"/>
            <a:t>10.95</a:t>
          </a:r>
          <a:br>
            <a:rPr lang="en-US" sz="2000" dirty="0"/>
          </a:br>
          <a:r>
            <a:rPr lang="en-US" sz="2000" dirty="0"/>
            <a:t>• RMSE = </a:t>
          </a:r>
          <a:r>
            <a:rPr lang="en-US" sz="2000" b="1" dirty="0"/>
            <a:t>62.28</a:t>
          </a:r>
          <a:br>
            <a:rPr lang="en-US" sz="2000" dirty="0"/>
          </a:br>
          <a:r>
            <a:rPr lang="en-US" sz="2000" dirty="0"/>
            <a:t>• Very poor performance</a:t>
          </a:r>
          <a:endParaRPr lang="en-IN" sz="2000" dirty="0"/>
        </a:p>
      </dgm:t>
    </dgm:pt>
    <dgm:pt modelId="{BF8447BC-CCCD-4497-B608-AB4C0F51D9BD}" type="parTrans" cxnId="{EF980114-7639-4590-80BA-DE0C351E1D71}">
      <dgm:prSet/>
      <dgm:spPr/>
      <dgm:t>
        <a:bodyPr/>
        <a:lstStyle/>
        <a:p>
          <a:endParaRPr lang="en-IN"/>
        </a:p>
      </dgm:t>
    </dgm:pt>
    <dgm:pt modelId="{E988D350-76D2-4467-A3FD-D1B85E353610}" type="sibTrans" cxnId="{EF980114-7639-4590-80BA-DE0C351E1D71}">
      <dgm:prSet/>
      <dgm:spPr/>
      <dgm:t>
        <a:bodyPr/>
        <a:lstStyle/>
        <a:p>
          <a:endParaRPr lang="en-IN"/>
        </a:p>
      </dgm:t>
    </dgm:pt>
    <dgm:pt modelId="{B92E70D4-CF78-4C7A-9453-E4C0BF66C394}">
      <dgm:prSet phldrT="[Text]" custT="1"/>
      <dgm:spPr/>
      <dgm:t>
        <a:bodyPr/>
        <a:lstStyle/>
        <a:p>
          <a:pPr>
            <a:buNone/>
          </a:pPr>
          <a:r>
            <a:rPr lang="en-IN" sz="2000" b="1" dirty="0"/>
            <a:t>2. ANN (After Tuning)</a:t>
          </a:r>
          <a:r>
            <a:rPr lang="en-US" sz="2000" dirty="0"/>
            <a:t>• R² = </a:t>
          </a:r>
          <a:r>
            <a:rPr lang="en-US" sz="2000" b="1" dirty="0"/>
            <a:t>0.159</a:t>
          </a:r>
          <a:br>
            <a:rPr lang="en-US" sz="2000" dirty="0"/>
          </a:br>
          <a:r>
            <a:rPr lang="en-US" sz="2000" dirty="0"/>
            <a:t>• MAE = </a:t>
          </a:r>
          <a:r>
            <a:rPr lang="en-US" sz="2000" b="1" dirty="0"/>
            <a:t>12.24</a:t>
          </a:r>
          <a:br>
            <a:rPr lang="en-US" sz="2000" dirty="0"/>
          </a:br>
          <a:r>
            <a:rPr lang="en-US" sz="2000" dirty="0"/>
            <a:t>• RMSE = </a:t>
          </a:r>
          <a:r>
            <a:rPr lang="en-US" sz="2000" b="1" dirty="0"/>
            <a:t>56.93</a:t>
          </a:r>
          <a:br>
            <a:rPr lang="en-US" sz="2000" dirty="0"/>
          </a:br>
          <a:r>
            <a:rPr lang="en-US" sz="2000" dirty="0"/>
            <a:t>• Slight improvement but still low accuracy</a:t>
          </a:r>
          <a:endParaRPr lang="en-IN" sz="2000" dirty="0"/>
        </a:p>
      </dgm:t>
    </dgm:pt>
    <dgm:pt modelId="{C89B2B6E-7299-4094-B811-975C7CB4359A}" type="parTrans" cxnId="{60607661-0F9A-444C-BD8E-B6CA76BEA494}">
      <dgm:prSet/>
      <dgm:spPr/>
      <dgm:t>
        <a:bodyPr/>
        <a:lstStyle/>
        <a:p>
          <a:endParaRPr lang="en-IN"/>
        </a:p>
      </dgm:t>
    </dgm:pt>
    <dgm:pt modelId="{A314DA1D-6A21-4467-B53F-EE23ADB58583}" type="sibTrans" cxnId="{60607661-0F9A-444C-BD8E-B6CA76BEA494}">
      <dgm:prSet/>
      <dgm:spPr/>
      <dgm:t>
        <a:bodyPr/>
        <a:lstStyle/>
        <a:p>
          <a:endParaRPr lang="en-IN"/>
        </a:p>
      </dgm:t>
    </dgm:pt>
    <dgm:pt modelId="{CBE796D0-21CE-4163-AC00-24C0C5A469BC}" type="pres">
      <dgm:prSet presAssocID="{EFCAF312-8B54-4D80-985B-2616DF8145D7}" presName="linear" presStyleCnt="0">
        <dgm:presLayoutVars>
          <dgm:dir/>
          <dgm:animLvl val="lvl"/>
          <dgm:resizeHandles val="exact"/>
        </dgm:presLayoutVars>
      </dgm:prSet>
      <dgm:spPr/>
    </dgm:pt>
    <dgm:pt modelId="{3FA21A96-4ABD-4235-B7C7-BFBEE42D7A0E}" type="pres">
      <dgm:prSet presAssocID="{EA970974-E280-4794-87A5-C0AE7EDD9BB0}" presName="parentLin" presStyleCnt="0"/>
      <dgm:spPr/>
    </dgm:pt>
    <dgm:pt modelId="{BB3B3CAC-C46F-4BD6-AC21-2649B52E2363}" type="pres">
      <dgm:prSet presAssocID="{EA970974-E280-4794-87A5-C0AE7EDD9BB0}" presName="parentLeftMargin" presStyleLbl="node1" presStyleIdx="0" presStyleCnt="2"/>
      <dgm:spPr/>
    </dgm:pt>
    <dgm:pt modelId="{6C315461-B382-4C2C-8504-27A1095664F5}" type="pres">
      <dgm:prSet presAssocID="{EA970974-E280-4794-87A5-C0AE7EDD9BB0}" presName="parentText" presStyleLbl="node1" presStyleIdx="0" presStyleCnt="2" custScaleX="157296" custScaleY="116851">
        <dgm:presLayoutVars>
          <dgm:chMax val="0"/>
          <dgm:bulletEnabled val="1"/>
        </dgm:presLayoutVars>
      </dgm:prSet>
      <dgm:spPr/>
    </dgm:pt>
    <dgm:pt modelId="{ABA2F107-E41E-47FC-85D3-2713F648EFFD}" type="pres">
      <dgm:prSet presAssocID="{EA970974-E280-4794-87A5-C0AE7EDD9BB0}" presName="negativeSpace" presStyleCnt="0"/>
      <dgm:spPr/>
    </dgm:pt>
    <dgm:pt modelId="{2C5F110A-D647-4E24-9D67-5E9D24D336B6}" type="pres">
      <dgm:prSet presAssocID="{EA970974-E280-4794-87A5-C0AE7EDD9BB0}" presName="childText" presStyleLbl="conFgAcc1" presStyleIdx="0" presStyleCnt="2">
        <dgm:presLayoutVars>
          <dgm:bulletEnabled val="1"/>
        </dgm:presLayoutVars>
      </dgm:prSet>
      <dgm:spPr/>
    </dgm:pt>
    <dgm:pt modelId="{CBE99815-D2EC-4029-B035-104BB7B1FCE9}" type="pres">
      <dgm:prSet presAssocID="{E988D350-76D2-4467-A3FD-D1B85E353610}" presName="spaceBetweenRectangles" presStyleCnt="0"/>
      <dgm:spPr/>
    </dgm:pt>
    <dgm:pt modelId="{CEA76050-87D9-4C37-B5FC-6741B25F7428}" type="pres">
      <dgm:prSet presAssocID="{B92E70D4-CF78-4C7A-9453-E4C0BF66C394}" presName="parentLin" presStyleCnt="0"/>
      <dgm:spPr/>
    </dgm:pt>
    <dgm:pt modelId="{0BE70A3D-655C-44DA-A9F9-4D275117AF17}" type="pres">
      <dgm:prSet presAssocID="{B92E70D4-CF78-4C7A-9453-E4C0BF66C394}" presName="parentLeftMargin" presStyleLbl="node1" presStyleIdx="0" presStyleCnt="2"/>
      <dgm:spPr/>
    </dgm:pt>
    <dgm:pt modelId="{2D37AFF7-D279-43DF-816B-4D8C1D72C3B2}" type="pres">
      <dgm:prSet presAssocID="{B92E70D4-CF78-4C7A-9453-E4C0BF66C394}" presName="parentText" presStyleLbl="node1" presStyleIdx="1" presStyleCnt="2" custScaleX="142857" custScaleY="131165">
        <dgm:presLayoutVars>
          <dgm:chMax val="0"/>
          <dgm:bulletEnabled val="1"/>
        </dgm:presLayoutVars>
      </dgm:prSet>
      <dgm:spPr/>
    </dgm:pt>
    <dgm:pt modelId="{1FC7E9E2-B3F4-46F9-AB11-89180E319B56}" type="pres">
      <dgm:prSet presAssocID="{B92E70D4-CF78-4C7A-9453-E4C0BF66C394}" presName="negativeSpace" presStyleCnt="0"/>
      <dgm:spPr/>
    </dgm:pt>
    <dgm:pt modelId="{DD792F21-D033-497E-AFF9-71DB9F2F1DF6}" type="pres">
      <dgm:prSet presAssocID="{B92E70D4-CF78-4C7A-9453-E4C0BF66C39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F980114-7639-4590-80BA-DE0C351E1D71}" srcId="{EFCAF312-8B54-4D80-985B-2616DF8145D7}" destId="{EA970974-E280-4794-87A5-C0AE7EDD9BB0}" srcOrd="0" destOrd="0" parTransId="{BF8447BC-CCCD-4497-B608-AB4C0F51D9BD}" sibTransId="{E988D350-76D2-4467-A3FD-D1B85E353610}"/>
    <dgm:cxn modelId="{2BE05B60-9049-4948-BE2B-DE8E99E5848F}" type="presOf" srcId="{B92E70D4-CF78-4C7A-9453-E4C0BF66C394}" destId="{2D37AFF7-D279-43DF-816B-4D8C1D72C3B2}" srcOrd="1" destOrd="0" presId="urn:microsoft.com/office/officeart/2005/8/layout/list1"/>
    <dgm:cxn modelId="{60607661-0F9A-444C-BD8E-B6CA76BEA494}" srcId="{EFCAF312-8B54-4D80-985B-2616DF8145D7}" destId="{B92E70D4-CF78-4C7A-9453-E4C0BF66C394}" srcOrd="1" destOrd="0" parTransId="{C89B2B6E-7299-4094-B811-975C7CB4359A}" sibTransId="{A314DA1D-6A21-4467-B53F-EE23ADB58583}"/>
    <dgm:cxn modelId="{E712AF58-924B-42AC-A35C-25021DC01E15}" type="presOf" srcId="{EA970974-E280-4794-87A5-C0AE7EDD9BB0}" destId="{6C315461-B382-4C2C-8504-27A1095664F5}" srcOrd="1" destOrd="0" presId="urn:microsoft.com/office/officeart/2005/8/layout/list1"/>
    <dgm:cxn modelId="{AC274D5A-51E9-4058-8C80-79AA70FB4C11}" type="presOf" srcId="{EA970974-E280-4794-87A5-C0AE7EDD9BB0}" destId="{BB3B3CAC-C46F-4BD6-AC21-2649B52E2363}" srcOrd="0" destOrd="0" presId="urn:microsoft.com/office/officeart/2005/8/layout/list1"/>
    <dgm:cxn modelId="{B88C46A0-24AF-4014-A677-6F2F7B4DE01C}" type="presOf" srcId="{B92E70D4-CF78-4C7A-9453-E4C0BF66C394}" destId="{0BE70A3D-655C-44DA-A9F9-4D275117AF17}" srcOrd="0" destOrd="0" presId="urn:microsoft.com/office/officeart/2005/8/layout/list1"/>
    <dgm:cxn modelId="{FD04FBE5-6132-4882-B6C1-502591F0D199}" type="presOf" srcId="{EFCAF312-8B54-4D80-985B-2616DF8145D7}" destId="{CBE796D0-21CE-4163-AC00-24C0C5A469BC}" srcOrd="0" destOrd="0" presId="urn:microsoft.com/office/officeart/2005/8/layout/list1"/>
    <dgm:cxn modelId="{FE74D7D3-A9ED-457B-B3E1-7264EFB47CD2}" type="presParOf" srcId="{CBE796D0-21CE-4163-AC00-24C0C5A469BC}" destId="{3FA21A96-4ABD-4235-B7C7-BFBEE42D7A0E}" srcOrd="0" destOrd="0" presId="urn:microsoft.com/office/officeart/2005/8/layout/list1"/>
    <dgm:cxn modelId="{E2B83A18-BCAC-4FC4-9815-99006FB4C84B}" type="presParOf" srcId="{3FA21A96-4ABD-4235-B7C7-BFBEE42D7A0E}" destId="{BB3B3CAC-C46F-4BD6-AC21-2649B52E2363}" srcOrd="0" destOrd="0" presId="urn:microsoft.com/office/officeart/2005/8/layout/list1"/>
    <dgm:cxn modelId="{B2C27D60-3156-4C03-934E-A9EEBC47361A}" type="presParOf" srcId="{3FA21A96-4ABD-4235-B7C7-BFBEE42D7A0E}" destId="{6C315461-B382-4C2C-8504-27A1095664F5}" srcOrd="1" destOrd="0" presId="urn:microsoft.com/office/officeart/2005/8/layout/list1"/>
    <dgm:cxn modelId="{6E1A1536-45E1-4554-9842-1FE0EEE66316}" type="presParOf" srcId="{CBE796D0-21CE-4163-AC00-24C0C5A469BC}" destId="{ABA2F107-E41E-47FC-85D3-2713F648EFFD}" srcOrd="1" destOrd="0" presId="urn:microsoft.com/office/officeart/2005/8/layout/list1"/>
    <dgm:cxn modelId="{EC0A0A3E-6E75-402C-AF18-01D1A71839D3}" type="presParOf" srcId="{CBE796D0-21CE-4163-AC00-24C0C5A469BC}" destId="{2C5F110A-D647-4E24-9D67-5E9D24D336B6}" srcOrd="2" destOrd="0" presId="urn:microsoft.com/office/officeart/2005/8/layout/list1"/>
    <dgm:cxn modelId="{4CEB8825-3065-4353-A892-5CA8FC59CCA0}" type="presParOf" srcId="{CBE796D0-21CE-4163-AC00-24C0C5A469BC}" destId="{CBE99815-D2EC-4029-B035-104BB7B1FCE9}" srcOrd="3" destOrd="0" presId="urn:microsoft.com/office/officeart/2005/8/layout/list1"/>
    <dgm:cxn modelId="{2CD76F8C-E12F-43B2-B2F9-884ADF5C377B}" type="presParOf" srcId="{CBE796D0-21CE-4163-AC00-24C0C5A469BC}" destId="{CEA76050-87D9-4C37-B5FC-6741B25F7428}" srcOrd="4" destOrd="0" presId="urn:microsoft.com/office/officeart/2005/8/layout/list1"/>
    <dgm:cxn modelId="{4DC45517-9407-4741-9C9D-78F503947B74}" type="presParOf" srcId="{CEA76050-87D9-4C37-B5FC-6741B25F7428}" destId="{0BE70A3D-655C-44DA-A9F9-4D275117AF17}" srcOrd="0" destOrd="0" presId="urn:microsoft.com/office/officeart/2005/8/layout/list1"/>
    <dgm:cxn modelId="{9C74E94B-91BF-4135-86CF-B70CC64A1CF6}" type="presParOf" srcId="{CEA76050-87D9-4C37-B5FC-6741B25F7428}" destId="{2D37AFF7-D279-43DF-816B-4D8C1D72C3B2}" srcOrd="1" destOrd="0" presId="urn:microsoft.com/office/officeart/2005/8/layout/list1"/>
    <dgm:cxn modelId="{C14140FB-351B-4A69-92AF-96E74E467330}" type="presParOf" srcId="{CBE796D0-21CE-4163-AC00-24C0C5A469BC}" destId="{1FC7E9E2-B3F4-46F9-AB11-89180E319B56}" srcOrd="5" destOrd="0" presId="urn:microsoft.com/office/officeart/2005/8/layout/list1"/>
    <dgm:cxn modelId="{B2D8BE7D-DCD1-4B5A-B727-302B0C2D2717}" type="presParOf" srcId="{CBE796D0-21CE-4163-AC00-24C0C5A469BC}" destId="{DD792F21-D033-497E-AFF9-71DB9F2F1DF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F110A-D647-4E24-9D67-5E9D24D336B6}">
      <dsp:nvSpPr>
        <dsp:cNvPr id="0" name=""/>
        <dsp:cNvSpPr/>
      </dsp:nvSpPr>
      <dsp:spPr>
        <a:xfrm>
          <a:off x="0" y="1182172"/>
          <a:ext cx="5789102" cy="148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315461-B382-4C2C-8504-27A1095664F5}">
      <dsp:nvSpPr>
        <dsp:cNvPr id="0" name=""/>
        <dsp:cNvSpPr/>
      </dsp:nvSpPr>
      <dsp:spPr>
        <a:xfrm>
          <a:off x="251294" y="17841"/>
          <a:ext cx="5533867" cy="20351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170" tIns="0" rIns="15317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1. ANN (Before Tuning)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• R² = </a:t>
          </a:r>
          <a:r>
            <a:rPr lang="en-US" sz="2000" b="1" kern="1200" dirty="0"/>
            <a:t>-0.006</a:t>
          </a:r>
          <a:br>
            <a:rPr lang="en-US" sz="2000" kern="1200" dirty="0"/>
          </a:br>
          <a:r>
            <a:rPr lang="en-US" sz="2000" kern="1200" dirty="0"/>
            <a:t>• MAE = </a:t>
          </a:r>
          <a:r>
            <a:rPr lang="en-US" sz="2000" b="1" kern="1200" dirty="0"/>
            <a:t>10.95</a:t>
          </a:r>
          <a:br>
            <a:rPr lang="en-US" sz="2000" kern="1200" dirty="0"/>
          </a:br>
          <a:r>
            <a:rPr lang="en-US" sz="2000" kern="1200" dirty="0"/>
            <a:t>• RMSE = </a:t>
          </a:r>
          <a:r>
            <a:rPr lang="en-US" sz="2000" b="1" kern="1200" dirty="0"/>
            <a:t>62.28</a:t>
          </a:r>
          <a:br>
            <a:rPr lang="en-US" sz="2000" kern="1200" dirty="0"/>
          </a:br>
          <a:r>
            <a:rPr lang="en-US" sz="2000" kern="1200" dirty="0"/>
            <a:t>• Very poor performance</a:t>
          </a:r>
          <a:endParaRPr lang="en-IN" sz="2000" kern="1200" dirty="0"/>
        </a:p>
      </dsp:txBody>
      <dsp:txXfrm>
        <a:off x="350643" y="117190"/>
        <a:ext cx="5335169" cy="1836472"/>
      </dsp:txXfrm>
    </dsp:sp>
    <dsp:sp modelId="{DD792F21-D033-497E-AFF9-71DB9F2F1DF6}">
      <dsp:nvSpPr>
        <dsp:cNvPr id="0" name=""/>
        <dsp:cNvSpPr/>
      </dsp:nvSpPr>
      <dsp:spPr>
        <a:xfrm>
          <a:off x="0" y="4401207"/>
          <a:ext cx="5789102" cy="148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37AFF7-D279-43DF-816B-4D8C1D72C3B2}">
      <dsp:nvSpPr>
        <dsp:cNvPr id="0" name=""/>
        <dsp:cNvSpPr/>
      </dsp:nvSpPr>
      <dsp:spPr>
        <a:xfrm>
          <a:off x="275604" y="2987572"/>
          <a:ext cx="5512078" cy="2284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170" tIns="0" rIns="15317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2. ANN (After Tuning)</a:t>
          </a:r>
          <a:r>
            <a:rPr lang="en-US" sz="2000" kern="1200" dirty="0"/>
            <a:t>• R² = </a:t>
          </a:r>
          <a:r>
            <a:rPr lang="en-US" sz="2000" b="1" kern="1200" dirty="0"/>
            <a:t>0.159</a:t>
          </a:r>
          <a:br>
            <a:rPr lang="en-US" sz="2000" kern="1200" dirty="0"/>
          </a:br>
          <a:r>
            <a:rPr lang="en-US" sz="2000" kern="1200" dirty="0"/>
            <a:t>• MAE = </a:t>
          </a:r>
          <a:r>
            <a:rPr lang="en-US" sz="2000" b="1" kern="1200" dirty="0"/>
            <a:t>12.24</a:t>
          </a:r>
          <a:br>
            <a:rPr lang="en-US" sz="2000" kern="1200" dirty="0"/>
          </a:br>
          <a:r>
            <a:rPr lang="en-US" sz="2000" kern="1200" dirty="0"/>
            <a:t>• RMSE = </a:t>
          </a:r>
          <a:r>
            <a:rPr lang="en-US" sz="2000" b="1" kern="1200" dirty="0"/>
            <a:t>56.93</a:t>
          </a:r>
          <a:br>
            <a:rPr lang="en-US" sz="2000" kern="1200" dirty="0"/>
          </a:br>
          <a:r>
            <a:rPr lang="en-US" sz="2000" kern="1200" dirty="0"/>
            <a:t>• Slight improvement but still low accuracy</a:t>
          </a:r>
          <a:endParaRPr lang="en-IN" sz="2000" kern="1200" dirty="0"/>
        </a:p>
      </dsp:txBody>
      <dsp:txXfrm>
        <a:off x="387123" y="3099091"/>
        <a:ext cx="5289040" cy="20614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A988E-99F7-47D3-87EC-D721DE60C29E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A484CF-270D-477D-8CF7-7AD520D40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39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484CF-270D-477D-8CF7-7AD520D40FA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666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484CF-270D-477D-8CF7-7AD520D40FA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788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484CF-270D-477D-8CF7-7AD520D40FA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505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484CF-270D-477D-8CF7-7AD520D40FA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28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5EEA6-6815-0DB1-E0CB-3AB7773E0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4CD8E-BF94-BDE7-DB4A-285D66230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2A3A1-92F7-3B41-AB63-C9AAEED1A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735-6F41-48DC-8EDF-4CC9EAD039F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F275B-7EA3-BBF3-A3A8-50960C303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6B141-0154-623E-CBC2-597DB684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F9B8-540C-4299-A8A6-C40D3B56F6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438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3CA59-2BB9-C3B3-0398-63572B3DD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AA478-523F-E9F2-3ACF-090A50845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BE4CF-B302-80F1-D061-2DFAE551D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735-6F41-48DC-8EDF-4CC9EAD039F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B459B-487E-6686-5A09-2543B20C4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E3004-F330-0A46-E000-F5927B059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F9B8-540C-4299-A8A6-C40D3B56F6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459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2601B-93D6-CAEF-1DAD-513BE97C0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EE105-6D34-BE34-79F2-CFF6FC3A9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2B879-C823-4B3E-7969-83C55448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735-6F41-48DC-8EDF-4CC9EAD039F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9F314-8EEC-30B2-4B7D-A6CFFA34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3C8ED-38B4-4A8F-A3E8-EAEAB0E24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F9B8-540C-4299-A8A6-C40D3B56F6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945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EB765-488A-7540-FF4E-B30333258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60EB3-941B-5553-49EA-50C77E37B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E08D8-CB4A-7100-FBFB-11EA12E6F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62D66-ABC8-C9B9-B367-FBA19D8FC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735-6F41-48DC-8EDF-4CC9EAD039F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6DC8B-606A-F9E1-0C5F-09787BB30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007BD-A3BB-FC80-E7E7-EAA994D7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F9B8-540C-4299-A8A6-C40D3B56F6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3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EDF12-9CBB-15FF-1392-E1370AAB3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0E2FB-C5C4-E266-CB5C-07167ED33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597BA-A0E2-5A9D-836E-172C2AA33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70DCFB-BE11-296D-A937-634738A73D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FBCD2E-6822-6EFC-9FB9-2E2123791C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9DF3A3-1A7F-1848-7556-8DCC4252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735-6F41-48DC-8EDF-4CC9EAD039F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ADBF84-C450-7714-8439-3309811D0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C59C3-8B98-B0CF-A64C-B1F1FD7F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F9B8-540C-4299-A8A6-C40D3B56F6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781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95D0B-2232-8FEC-7E2F-429356EA2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83C50-D7E9-7AE7-C3EC-2EBCD4EBF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735-6F41-48DC-8EDF-4CC9EAD039F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1B72B-E308-0B88-83AD-73AB14CFE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EF4BB3-511B-9BB1-1AB7-F830EB4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F9B8-540C-4299-A8A6-C40D3B56F6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116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A01DB6-FDD8-C01C-8601-37D67697B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735-6F41-48DC-8EDF-4CC9EAD039F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A68543-7653-858C-341C-8DDA08A8B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8E308-1D73-1956-E89A-F4675D438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F9B8-540C-4299-A8A6-C40D3B56F6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99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E52C4-D461-9021-BC74-ED86B49B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284CF-D201-5443-90DE-7EB73C0F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36DBBB-0AD1-89AE-2F54-A58127817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F0DC22-9024-788A-6B32-36EF8242A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735-6F41-48DC-8EDF-4CC9EAD039F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44AA5-94BE-F8A3-14A2-A0E2A0659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E6ADD-71B2-51B5-E550-A8C9CCD3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F9B8-540C-4299-A8A6-C40D3B56F6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255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4E870-264B-A133-A62F-246C50658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4E242C-67A0-3B80-7EA2-E39A789D88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C6E9A3-BF53-767D-6D07-B8C72B719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9AEEB-CBA0-10C8-2D65-84DAC24F0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735-6F41-48DC-8EDF-4CC9EAD039F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6CB80-7E32-3DD4-ED8D-FF9E321F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B5574-970E-6795-5BB1-553E980B1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F9B8-540C-4299-A8A6-C40D3B56F6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39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F1013-CFCD-EB75-C2BF-0FF98369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633A5-19EB-1A19-7944-87837892A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E0A73-F1E9-973A-4BA5-DFA78495E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735-6F41-48DC-8EDF-4CC9EAD039F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36FD1-1162-7589-C685-129ADC6E4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B4DB0-07F5-69EC-2F14-220C9B14A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F9B8-540C-4299-A8A6-C40D3B56F6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632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BAAE20-FA4A-6426-0C9D-A8ED2E61D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64D543-39ED-8CD6-E8D5-DB0C91ABA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E0146-0159-76AE-8EF1-CEA89D5A6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735-6F41-48DC-8EDF-4CC9EAD039F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2E4E9-1216-84D0-B20D-74A28D4A5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EE1B7-5D3E-0AAC-78E4-E0BD21D4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F9B8-540C-4299-A8A6-C40D3B56F6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710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C597F-CCBE-8940-7AB1-D0DD5EAFA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88A6-57ED-D404-7A55-0FD361807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3847F-1A75-3B67-DA21-A0E61FD119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AB735-6F41-48DC-8EDF-4CC9EAD039F6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6B21B-78B2-86B1-D2A9-DA4A5AA53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1DEA7-A30C-7DAA-9D5D-802A05C34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2F9B8-540C-4299-A8A6-C40D3B56F6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065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2D80-039C-FC8A-4668-22A1CF64F8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2759978"/>
          </a:xfrm>
        </p:spPr>
        <p:txBody>
          <a:bodyPr>
            <a:normAutofit/>
          </a:bodyPr>
          <a:lstStyle/>
          <a:p>
            <a:r>
              <a:rPr lang="en-US" b="1" dirty="0"/>
              <a:t>Analyzing the Drivers of CO₂ Emissions: </a:t>
            </a:r>
            <a:br>
              <a:rPr lang="en-US" b="1" dirty="0"/>
            </a:br>
            <a:r>
              <a:rPr lang="en-US" b="1" dirty="0"/>
              <a:t>A Multi-Factor Analysis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68477-373A-34A7-F09D-9DBF84B61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280096"/>
            <a:ext cx="3833769" cy="570451"/>
          </a:xfrm>
        </p:spPr>
        <p:txBody>
          <a:bodyPr>
            <a:normAutofit/>
          </a:bodyPr>
          <a:lstStyle/>
          <a:p>
            <a:r>
              <a:rPr lang="en-IN" b="1" dirty="0"/>
              <a:t>Presented by: Ravina </a:t>
            </a:r>
            <a:r>
              <a:rPr lang="en-IN" b="1" dirty="0" err="1"/>
              <a:t>Ravina</a:t>
            </a:r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5868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2F320-0BE9-A770-EE42-59C4E81DA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459684"/>
          </a:xfrm>
        </p:spPr>
        <p:txBody>
          <a:bodyPr>
            <a:normAutofit/>
          </a:bodyPr>
          <a:lstStyle/>
          <a:p>
            <a:r>
              <a:rPr lang="en-IN" b="1" dirty="0"/>
              <a:t>Project Overview &amp; Context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BB9B0-0346-3BB8-E7B3-06621E42E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19074"/>
            <a:ext cx="9144000" cy="28354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• Part 1 identified top CO₂ emitters (China, USA) </a:t>
            </a:r>
            <a:br>
              <a:rPr lang="en-US" b="1" dirty="0"/>
            </a:br>
            <a:r>
              <a:rPr lang="en-US" b="1" dirty="0"/>
              <a:t>• Shifted to CO₂ emissions per capita for fair comparison</a:t>
            </a:r>
            <a:br>
              <a:rPr lang="en-US" b="1" dirty="0"/>
            </a:br>
            <a:r>
              <a:rPr lang="en-US" b="1" dirty="0"/>
              <a:t>• Key drivers were unclear</a:t>
            </a:r>
            <a:br>
              <a:rPr lang="en-US" b="1" dirty="0"/>
            </a:br>
            <a:r>
              <a:rPr lang="en-US" b="1" dirty="0"/>
              <a:t>• Machine Learning used to identify key influencing factors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299F50-3C80-E10B-4536-A79A251C319E}"/>
              </a:ext>
            </a:extLst>
          </p:cNvPr>
          <p:cNvSpPr txBox="1"/>
          <p:nvPr/>
        </p:nvSpPr>
        <p:spPr>
          <a:xfrm>
            <a:off x="0" y="4761871"/>
            <a:ext cx="90433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Key Question: What factors drive CO₂ emissions, and what is the relationship with renewable energy?</a:t>
            </a:r>
          </a:p>
        </p:txBody>
      </p:sp>
    </p:spTree>
    <p:extLst>
      <p:ext uri="{BB962C8B-B14F-4D97-AF65-F5344CB8AC3E}">
        <p14:creationId xmlns:p14="http://schemas.microsoft.com/office/powerpoint/2010/main" val="2966434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8AD98-82FC-8AFD-701D-C0810715A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501628"/>
          </a:xfrm>
        </p:spPr>
        <p:txBody>
          <a:bodyPr/>
          <a:lstStyle/>
          <a:p>
            <a:r>
              <a:rPr lang="en-IN" b="1" dirty="0"/>
              <a:t>Data Refinement &amp; Preparation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0FAB2-E1D1-DE6C-AE55-1453AACAC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1045029"/>
            <a:ext cx="11353800" cy="531382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Data Integration </a:t>
            </a:r>
            <a:br>
              <a:rPr lang="en-IN" dirty="0"/>
            </a:br>
            <a:r>
              <a:rPr lang="en-IN" dirty="0"/>
              <a:t>Merged two World Bank datasets:</a:t>
            </a:r>
            <a:br>
              <a:rPr lang="en-IN" dirty="0"/>
            </a:br>
            <a:r>
              <a:rPr lang="en-IN" dirty="0"/>
              <a:t>• CO₂ emissions data</a:t>
            </a:r>
            <a:br>
              <a:rPr lang="en-IN" dirty="0"/>
            </a:br>
            <a:r>
              <a:rPr lang="en-IN" dirty="0"/>
              <a:t>• Renewable energy consumption data</a:t>
            </a:r>
          </a:p>
          <a:p>
            <a:pPr marL="0" indent="0">
              <a:buNone/>
            </a:pPr>
            <a:r>
              <a:rPr lang="en-IN" b="1" dirty="0"/>
              <a:t>Data Cleaning</a:t>
            </a:r>
            <a:br>
              <a:rPr lang="en-IN" dirty="0"/>
            </a:br>
            <a:r>
              <a:rPr lang="en-IN" dirty="0"/>
              <a:t>• Removed small territories &amp; irrelevant regions</a:t>
            </a:r>
            <a:br>
              <a:rPr lang="en-IN" dirty="0"/>
            </a:br>
            <a:r>
              <a:rPr lang="en-IN" dirty="0"/>
              <a:t>• Handled missing values using median imputation</a:t>
            </a:r>
            <a:br>
              <a:rPr lang="en-IN" dirty="0"/>
            </a:br>
            <a:r>
              <a:rPr lang="en-IN" dirty="0"/>
              <a:t>• Converted variables into proper numeric format</a:t>
            </a:r>
          </a:p>
          <a:p>
            <a:pPr marL="0" indent="0">
              <a:buNone/>
            </a:pPr>
            <a:r>
              <a:rPr lang="en-IN" b="1" dirty="0"/>
              <a:t>Time Filtering</a:t>
            </a:r>
            <a:br>
              <a:rPr lang="en-IN" dirty="0"/>
            </a:br>
            <a:r>
              <a:rPr lang="en-IN" dirty="0"/>
              <a:t>• Original data: 1960–2022</a:t>
            </a:r>
            <a:br>
              <a:rPr lang="en-IN" dirty="0"/>
            </a:br>
            <a:r>
              <a:rPr lang="en-IN" dirty="0"/>
              <a:t>• Final dataset: 1990–2020</a:t>
            </a:r>
          </a:p>
          <a:p>
            <a:pPr marL="0" indent="0">
              <a:buNone/>
            </a:pPr>
            <a:r>
              <a:rPr lang="en-IN" b="1" dirty="0"/>
              <a:t>Final Dataset</a:t>
            </a:r>
            <a:br>
              <a:rPr lang="en-IN" dirty="0"/>
            </a:br>
            <a:r>
              <a:rPr lang="en-IN" dirty="0"/>
              <a:t>• 198 countries included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7715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6F1B0-F672-E1AD-CCE1-4CC21AA1D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073790"/>
          </a:xfrm>
        </p:spPr>
        <p:txBody>
          <a:bodyPr/>
          <a:lstStyle/>
          <a:p>
            <a:r>
              <a:rPr lang="en-US" b="1" dirty="0"/>
              <a:t>CO₂ vs Renewable Energy Trends Over Time</a:t>
            </a:r>
            <a:endParaRPr lang="en-IN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07650E-E984-15B3-3C9F-242ED564C596}"/>
              </a:ext>
            </a:extLst>
          </p:cNvPr>
          <p:cNvGrpSpPr/>
          <p:nvPr/>
        </p:nvGrpSpPr>
        <p:grpSpPr>
          <a:xfrm>
            <a:off x="100668" y="2642533"/>
            <a:ext cx="11887200" cy="3724918"/>
            <a:chOff x="0" y="0"/>
            <a:chExt cx="7153275" cy="285686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93A70C1-962E-AE49-C369-BB67FD5D13CC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3549015" cy="284962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C26AEA5-B658-8AB9-19BA-A56E97F70F30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3549015" y="0"/>
              <a:ext cx="3604260" cy="2856865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A02AE1F-801F-CE77-F6A5-5F410ACDDA09}"/>
              </a:ext>
            </a:extLst>
          </p:cNvPr>
          <p:cNvSpPr txBox="1"/>
          <p:nvPr/>
        </p:nvSpPr>
        <p:spPr>
          <a:xfrm>
            <a:off x="159391" y="1304164"/>
            <a:ext cx="3942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CO₂ Emissions Trend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FCB789-FA0A-A0A5-4A15-432616414BD3}"/>
              </a:ext>
            </a:extLst>
          </p:cNvPr>
          <p:cNvSpPr txBox="1"/>
          <p:nvPr/>
        </p:nvSpPr>
        <p:spPr>
          <a:xfrm>
            <a:off x="6602136" y="1241572"/>
            <a:ext cx="3324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Renewable Energy Trend</a:t>
            </a:r>
          </a:p>
        </p:txBody>
      </p:sp>
    </p:spTree>
    <p:extLst>
      <p:ext uri="{BB962C8B-B14F-4D97-AF65-F5344CB8AC3E}">
        <p14:creationId xmlns:p14="http://schemas.microsoft.com/office/powerpoint/2010/main" val="755124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D2D82-19BF-CF45-A319-DB256E998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107346"/>
          </a:xfrm>
        </p:spPr>
        <p:txBody>
          <a:bodyPr/>
          <a:lstStyle/>
          <a:p>
            <a:r>
              <a:rPr lang="en-US" b="1" dirty="0"/>
              <a:t>Models: Baselines &amp; Advanced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4460B-879D-A961-22E4-39D0DB1ED4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107347"/>
            <a:ext cx="5746457" cy="2495337"/>
          </a:xfrm>
        </p:spPr>
        <p:txBody>
          <a:bodyPr/>
          <a:lstStyle/>
          <a:p>
            <a:r>
              <a:rPr lang="en-IN" dirty="0"/>
              <a:t>Baseline models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D402C-67D4-F266-15BF-2B24E4DA7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0349" y="1107347"/>
            <a:ext cx="6361651" cy="2495337"/>
          </a:xfrm>
        </p:spPr>
        <p:txBody>
          <a:bodyPr/>
          <a:lstStyle/>
          <a:p>
            <a:r>
              <a:rPr lang="en-IN" dirty="0"/>
              <a:t>Advanced models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6487587-F88D-4BA1-B86C-BB448697B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987885"/>
              </p:ext>
            </p:extLst>
          </p:nvPr>
        </p:nvGraphicFramePr>
        <p:xfrm>
          <a:off x="-2" y="1770078"/>
          <a:ext cx="5637404" cy="1812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351">
                  <a:extLst>
                    <a:ext uri="{9D8B030D-6E8A-4147-A177-3AD203B41FA5}">
                      <a16:colId xmlns:a16="http://schemas.microsoft.com/office/drawing/2014/main" val="2680847779"/>
                    </a:ext>
                  </a:extLst>
                </a:gridCol>
                <a:gridCol w="1409351">
                  <a:extLst>
                    <a:ext uri="{9D8B030D-6E8A-4147-A177-3AD203B41FA5}">
                      <a16:colId xmlns:a16="http://schemas.microsoft.com/office/drawing/2014/main" val="75894400"/>
                    </a:ext>
                  </a:extLst>
                </a:gridCol>
                <a:gridCol w="1409351">
                  <a:extLst>
                    <a:ext uri="{9D8B030D-6E8A-4147-A177-3AD203B41FA5}">
                      <a16:colId xmlns:a16="http://schemas.microsoft.com/office/drawing/2014/main" val="1306072926"/>
                    </a:ext>
                  </a:extLst>
                </a:gridCol>
                <a:gridCol w="1409351">
                  <a:extLst>
                    <a:ext uri="{9D8B030D-6E8A-4147-A177-3AD203B41FA5}">
                      <a16:colId xmlns:a16="http://schemas.microsoft.com/office/drawing/2014/main" val="3502306644"/>
                    </a:ext>
                  </a:extLst>
                </a:gridCol>
              </a:tblGrid>
              <a:tr h="407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R²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1275232"/>
                  </a:ext>
                </a:extLst>
              </a:tr>
              <a:tr h="702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9.223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40.793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140459"/>
                  </a:ext>
                </a:extLst>
              </a:tr>
              <a:tr h="702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0.514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1.575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78019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8D04A95-0B4B-16DA-E617-36A83ADF3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786424"/>
              </p:ext>
            </p:extLst>
          </p:nvPr>
        </p:nvGraphicFramePr>
        <p:xfrm>
          <a:off x="5939404" y="1770079"/>
          <a:ext cx="6252596" cy="1832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149">
                  <a:extLst>
                    <a:ext uri="{9D8B030D-6E8A-4147-A177-3AD203B41FA5}">
                      <a16:colId xmlns:a16="http://schemas.microsoft.com/office/drawing/2014/main" val="3679555571"/>
                    </a:ext>
                  </a:extLst>
                </a:gridCol>
                <a:gridCol w="1563149">
                  <a:extLst>
                    <a:ext uri="{9D8B030D-6E8A-4147-A177-3AD203B41FA5}">
                      <a16:colId xmlns:a16="http://schemas.microsoft.com/office/drawing/2014/main" val="386151558"/>
                    </a:ext>
                  </a:extLst>
                </a:gridCol>
                <a:gridCol w="1563149">
                  <a:extLst>
                    <a:ext uri="{9D8B030D-6E8A-4147-A177-3AD203B41FA5}">
                      <a16:colId xmlns:a16="http://schemas.microsoft.com/office/drawing/2014/main" val="2897543536"/>
                    </a:ext>
                  </a:extLst>
                </a:gridCol>
                <a:gridCol w="1563149">
                  <a:extLst>
                    <a:ext uri="{9D8B030D-6E8A-4147-A177-3AD203B41FA5}">
                      <a16:colId xmlns:a16="http://schemas.microsoft.com/office/drawing/2014/main" val="4041458047"/>
                    </a:ext>
                  </a:extLst>
                </a:gridCol>
              </a:tblGrid>
              <a:tr h="390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R²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053625"/>
                  </a:ext>
                </a:extLst>
              </a:tr>
              <a:tr h="801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Random Forest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0.9988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2.114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8976749"/>
                  </a:ext>
                </a:extLst>
              </a:tr>
              <a:tr h="619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0.9972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2.010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3.263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82636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542B17F-CD65-9EA5-562C-F679DC183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217468"/>
              </p:ext>
            </p:extLst>
          </p:nvPr>
        </p:nvGraphicFramePr>
        <p:xfrm>
          <a:off x="-2" y="3865538"/>
          <a:ext cx="56374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134">
                  <a:extLst>
                    <a:ext uri="{9D8B030D-6E8A-4147-A177-3AD203B41FA5}">
                      <a16:colId xmlns:a16="http://schemas.microsoft.com/office/drawing/2014/main" val="2734933671"/>
                    </a:ext>
                  </a:extLst>
                </a:gridCol>
                <a:gridCol w="1879134">
                  <a:extLst>
                    <a:ext uri="{9D8B030D-6E8A-4147-A177-3AD203B41FA5}">
                      <a16:colId xmlns:a16="http://schemas.microsoft.com/office/drawing/2014/main" val="2407755521"/>
                    </a:ext>
                  </a:extLst>
                </a:gridCol>
                <a:gridCol w="1879134">
                  <a:extLst>
                    <a:ext uri="{9D8B030D-6E8A-4147-A177-3AD203B41FA5}">
                      <a16:colId xmlns:a16="http://schemas.microsoft.com/office/drawing/2014/main" val="446620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Train R²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 R²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834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990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0.999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854414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538D784-59B7-23DE-6B19-2C2CF80AD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917997"/>
              </p:ext>
            </p:extLst>
          </p:nvPr>
        </p:nvGraphicFramePr>
        <p:xfrm>
          <a:off x="5939404" y="3865538"/>
          <a:ext cx="625259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198">
                  <a:extLst>
                    <a:ext uri="{9D8B030D-6E8A-4147-A177-3AD203B41FA5}">
                      <a16:colId xmlns:a16="http://schemas.microsoft.com/office/drawing/2014/main" val="1014471948"/>
                    </a:ext>
                  </a:extLst>
                </a:gridCol>
                <a:gridCol w="2084198">
                  <a:extLst>
                    <a:ext uri="{9D8B030D-6E8A-4147-A177-3AD203B41FA5}">
                      <a16:colId xmlns:a16="http://schemas.microsoft.com/office/drawing/2014/main" val="2865834578"/>
                    </a:ext>
                  </a:extLst>
                </a:gridCol>
                <a:gridCol w="2084198">
                  <a:extLst>
                    <a:ext uri="{9D8B030D-6E8A-4147-A177-3AD203B41FA5}">
                      <a16:colId xmlns:a16="http://schemas.microsoft.com/office/drawing/2014/main" val="488994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Train R²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 R²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5655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0.9997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0.9988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864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0.9972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920216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B6BC265-8232-C3E5-20DE-D3F0C6147715}"/>
              </a:ext>
            </a:extLst>
          </p:cNvPr>
          <p:cNvSpPr txBox="1"/>
          <p:nvPr/>
        </p:nvSpPr>
        <p:spPr>
          <a:xfrm>
            <a:off x="-2" y="5595457"/>
            <a:ext cx="110063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Final Baseline: Linear Regression               Final Model: Random Forest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3364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22634-9C7D-1479-FCF4-E4B0BC0F0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93650"/>
          </a:xfrm>
        </p:spPr>
        <p:txBody>
          <a:bodyPr/>
          <a:lstStyle/>
          <a:p>
            <a:r>
              <a:rPr lang="en-IN" b="1" dirty="0"/>
              <a:t>Correlation Analysis   		Feature Importance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2F1AB2-ABAA-AD55-86F0-80D22945BED1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993651"/>
            <a:ext cx="5335398" cy="36790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212E81-16AA-1165-1352-92D661CF4293}"/>
              </a:ext>
            </a:extLst>
          </p:cNvPr>
          <p:cNvSpPr txBox="1"/>
          <p:nvPr/>
        </p:nvSpPr>
        <p:spPr>
          <a:xfrm>
            <a:off x="1" y="4731391"/>
            <a:ext cx="4941116" cy="2277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Key Relationships</a:t>
            </a:r>
          </a:p>
          <a:p>
            <a:r>
              <a:rPr lang="en-IN" sz="2400" dirty="0"/>
              <a:t>• Strong positive: CO₂ vs CO₂ per GDP</a:t>
            </a:r>
            <a:br>
              <a:rPr lang="en-IN" sz="2400" dirty="0"/>
            </a:br>
            <a:r>
              <a:rPr lang="en-IN" sz="2400" dirty="0"/>
              <a:t>• Weak negative: Renewable vs CO₂</a:t>
            </a:r>
            <a:br>
              <a:rPr lang="en-IN" sz="2400" dirty="0"/>
            </a:br>
            <a:r>
              <a:rPr lang="en-IN" sz="2400" dirty="0"/>
              <a:t>• Strong relation: Methane &amp; N₂O</a:t>
            </a:r>
            <a:br>
              <a:rPr lang="en-IN" sz="2400" dirty="0"/>
            </a:br>
            <a:r>
              <a:rPr lang="en-IN" sz="2400" dirty="0"/>
              <a:t>• Moderate: CO₂ intensity impact</a:t>
            </a:r>
          </a:p>
          <a:p>
            <a:endParaRPr lang="en-IN" dirty="0"/>
          </a:p>
        </p:txBody>
      </p:sp>
      <p:pic>
        <p:nvPicPr>
          <p:cNvPr id="4" name="Picture 2" descr="Plot output">
            <a:extLst>
              <a:ext uri="{FF2B5EF4-FFF2-40B4-BE49-F238E27FC236}">
                <a16:creationId xmlns:a16="http://schemas.microsoft.com/office/drawing/2014/main" id="{2D8CD4AC-0C8C-91C0-5A26-989FFA38612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93651"/>
            <a:ext cx="6096000" cy="3679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AD005B-647F-97CF-9454-C529C306C3BC}"/>
              </a:ext>
            </a:extLst>
          </p:cNvPr>
          <p:cNvSpPr txBox="1"/>
          <p:nvPr/>
        </p:nvSpPr>
        <p:spPr>
          <a:xfrm>
            <a:off x="6096000" y="4696822"/>
            <a:ext cx="62442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Insights</a:t>
            </a:r>
          </a:p>
          <a:p>
            <a:r>
              <a:rPr lang="en-US" sz="2400" dirty="0"/>
              <a:t>• Dominant factor: CO₂ per GDP</a:t>
            </a:r>
            <a:br>
              <a:rPr lang="en-US" sz="2400" dirty="0"/>
            </a:br>
            <a:r>
              <a:rPr lang="en-US" sz="2400" dirty="0"/>
              <a:t>• Moderate role: Methane and N₂O</a:t>
            </a:r>
            <a:br>
              <a:rPr lang="en-US" sz="2400" dirty="0"/>
            </a:br>
            <a:r>
              <a:rPr lang="en-US" sz="2400" dirty="0"/>
              <a:t>• Weak influence: Renewable energy</a:t>
            </a:r>
            <a:br>
              <a:rPr lang="en-US" sz="2400" dirty="0"/>
            </a:br>
            <a:r>
              <a:rPr lang="en-US" sz="2400" dirty="0"/>
              <a:t>• Negligible impact: Year and CO₂ intensity</a:t>
            </a:r>
          </a:p>
        </p:txBody>
      </p:sp>
    </p:spTree>
    <p:extLst>
      <p:ext uri="{BB962C8B-B14F-4D97-AF65-F5344CB8AC3E}">
        <p14:creationId xmlns:p14="http://schemas.microsoft.com/office/powerpoint/2010/main" val="1572083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98077-093A-87D8-0BBE-1F4E9D3C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24124"/>
          </a:xfrm>
        </p:spPr>
        <p:txBody>
          <a:bodyPr>
            <a:normAutofit/>
          </a:bodyPr>
          <a:lstStyle/>
          <a:p>
            <a:r>
              <a:rPr lang="en-US" sz="4000" b="1" dirty="0"/>
              <a:t>Reduced Features Experiment: Role of Renewable Energy</a:t>
            </a:r>
            <a:endParaRPr lang="en-IN" sz="40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1EE2D0-D6FC-ABEA-C96B-C9A9B2E11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360544"/>
            <a:ext cx="5494790" cy="50528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Goal</a:t>
            </a:r>
          </a:p>
          <a:p>
            <a:pPr marL="0" indent="0">
              <a:buNone/>
            </a:pPr>
            <a:r>
              <a:rPr lang="en-US" dirty="0"/>
              <a:t>Evaluate if renewable energy alone can explain CO₂ emissions</a:t>
            </a:r>
          </a:p>
          <a:p>
            <a:pPr marL="0" indent="0">
              <a:buNone/>
            </a:pPr>
            <a:r>
              <a:rPr lang="en-US" b="1" dirty="0"/>
              <a:t>Methodology</a:t>
            </a:r>
          </a:p>
          <a:p>
            <a:r>
              <a:rPr lang="en-US" dirty="0"/>
              <a:t>Removed key economic factors (CO₂ per GDP, intensity)</a:t>
            </a:r>
          </a:p>
          <a:p>
            <a:r>
              <a:rPr lang="en-US" dirty="0"/>
              <a:t>Trained model using only limited features</a:t>
            </a:r>
          </a:p>
          <a:p>
            <a:pPr marL="0" indent="0">
              <a:buNone/>
            </a:pPr>
            <a:r>
              <a:rPr lang="en-US" b="1" dirty="0"/>
              <a:t>Results</a:t>
            </a:r>
          </a:p>
          <a:p>
            <a:pPr marL="0" indent="0">
              <a:buNone/>
            </a:pPr>
            <a:r>
              <a:rPr lang="en-US" dirty="0"/>
              <a:t>R² dropped drastically from </a:t>
            </a:r>
            <a:r>
              <a:rPr lang="en-US" b="1" dirty="0"/>
              <a:t>0.9988 → 0.19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8705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2D505-A5CD-B585-4106-3A266C657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1072314"/>
          </a:xfrm>
        </p:spPr>
        <p:txBody>
          <a:bodyPr/>
          <a:lstStyle/>
          <a:p>
            <a:r>
              <a:rPr lang="en-US" b="1" dirty="0"/>
              <a:t>Hypothesis Testing: Renewable Energy’s Impact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A0F4F-613E-6F7B-97A5-6D95A8805D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090571"/>
            <a:ext cx="12192000" cy="449649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Hypotheses:</a:t>
            </a:r>
          </a:p>
          <a:p>
            <a:pPr marL="0" indent="0">
              <a:buNone/>
            </a:pPr>
            <a:r>
              <a:rPr lang="en-US" b="1" dirty="0"/>
              <a:t>Null Hypothesis (H₀):</a:t>
            </a:r>
            <a:br>
              <a:rPr lang="en-US" dirty="0"/>
            </a:br>
            <a:r>
              <a:rPr lang="en-US" dirty="0"/>
              <a:t>Renewable energy consumption has </a:t>
            </a:r>
            <a:r>
              <a:rPr lang="en-US" b="1" dirty="0"/>
              <a:t>no significant relationship</a:t>
            </a:r>
            <a:r>
              <a:rPr lang="en-US" dirty="0"/>
              <a:t> with CO₂ emissions per capita.</a:t>
            </a:r>
            <a:br>
              <a:rPr lang="en-US" dirty="0"/>
            </a:br>
            <a:r>
              <a:rPr lang="en-US" b="1" dirty="0"/>
              <a:t>Alternative Hypothesis (H₁):</a:t>
            </a:r>
            <a:br>
              <a:rPr lang="en-US" dirty="0"/>
            </a:br>
            <a:r>
              <a:rPr lang="en-US" dirty="0"/>
              <a:t>Renewable energy consumption has a </a:t>
            </a:r>
            <a:r>
              <a:rPr lang="en-US" b="1" dirty="0"/>
              <a:t>significant relationship</a:t>
            </a:r>
            <a:r>
              <a:rPr lang="en-US" dirty="0"/>
              <a:t> with CO₂ emissions per capita.</a:t>
            </a:r>
          </a:p>
          <a:p>
            <a:pPr marL="0" indent="0">
              <a:buNone/>
            </a:pPr>
            <a:r>
              <a:rPr lang="en-US" b="1" dirty="0"/>
              <a:t>Findings</a:t>
            </a:r>
          </a:p>
          <a:p>
            <a:pPr marL="0" indent="0">
              <a:buNone/>
            </a:pPr>
            <a:r>
              <a:rPr lang="en-US" dirty="0"/>
              <a:t>• Correlation: -0.137 (weak negative)</a:t>
            </a:r>
            <a:br>
              <a:rPr lang="en-US" dirty="0"/>
            </a:br>
            <a:r>
              <a:rPr lang="en-US" dirty="0"/>
              <a:t>• p-value: 3.94 × 10⁻²⁷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5429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B85D9-529E-0B89-32B0-9A814966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030369"/>
          </a:xfrm>
        </p:spPr>
        <p:txBody>
          <a:bodyPr/>
          <a:lstStyle/>
          <a:p>
            <a:r>
              <a:rPr lang="en-IN" b="1" dirty="0"/>
              <a:t>Visual 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2FCA3-82F5-942F-1660-B239903AD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635" y="1154506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Actual vs Predicted Plot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30786-7906-E763-782E-3E87E7511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3419" y="1154506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Residual Plot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8BF2A4-3171-1A39-A6B8-DBE011D6130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9635" y="1837188"/>
            <a:ext cx="4883091" cy="41605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1B597E-24FD-B025-90C5-6767AAF0B5C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0" y="1837188"/>
            <a:ext cx="5250180" cy="4160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0DBCE0-AE11-FDC5-CAAB-14319B6C0097}"/>
              </a:ext>
            </a:extLst>
          </p:cNvPr>
          <p:cNvSpPr txBox="1"/>
          <p:nvPr/>
        </p:nvSpPr>
        <p:spPr>
          <a:xfrm flipH="1">
            <a:off x="49634" y="6188526"/>
            <a:ext cx="4883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Points close to line → high accuracy</a:t>
            </a: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F9B09F-3D75-DD66-0534-AC41F9766027}"/>
              </a:ext>
            </a:extLst>
          </p:cNvPr>
          <p:cNvSpPr txBox="1"/>
          <p:nvPr/>
        </p:nvSpPr>
        <p:spPr>
          <a:xfrm>
            <a:off x="6182686" y="6188526"/>
            <a:ext cx="5163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Errors near zero → good model fit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15944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4E8BB-8C0E-B282-7065-DC8194BF4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998289"/>
          </a:xfrm>
        </p:spPr>
        <p:txBody>
          <a:bodyPr/>
          <a:lstStyle/>
          <a:p>
            <a:r>
              <a:rPr lang="en-IN" b="1" dirty="0"/>
              <a:t>Hyperparameter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F67A7-E1BE-7A4B-4FFF-E634830216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073791"/>
            <a:ext cx="4639112" cy="24328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Best Parameters: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IN" dirty="0" err="1"/>
              <a:t>n_estimators</a:t>
            </a:r>
            <a:r>
              <a:rPr lang="en-IN" dirty="0"/>
              <a:t> = 200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err="1"/>
              <a:t>max_depth</a:t>
            </a:r>
            <a:r>
              <a:rPr lang="en-IN" dirty="0"/>
              <a:t> = None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err="1"/>
              <a:t>min_samples_split</a:t>
            </a:r>
            <a:r>
              <a:rPr lang="en-IN" dirty="0"/>
              <a:t> = 2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err="1"/>
              <a:t>min_samples_leaf</a:t>
            </a:r>
            <a:r>
              <a:rPr lang="en-IN" dirty="0"/>
              <a:t> =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BA83C-237B-9E12-3E85-5D389EA16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07560" y="1073792"/>
            <a:ext cx="5410899" cy="2139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Optimized Model Performance:</a:t>
            </a:r>
          </a:p>
          <a:p>
            <a:pPr marL="0" indent="0">
              <a:buNone/>
            </a:pPr>
            <a:r>
              <a:rPr lang="pt-BR" dirty="0"/>
              <a:t>• CV Score = 0.9496</a:t>
            </a:r>
            <a:br>
              <a:rPr lang="pt-BR" dirty="0"/>
            </a:br>
            <a:r>
              <a:rPr lang="pt-BR" dirty="0"/>
              <a:t>• R² = 0.9989</a:t>
            </a:r>
            <a:br>
              <a:rPr lang="pt-BR" dirty="0"/>
            </a:br>
            <a:r>
              <a:rPr lang="pt-BR" dirty="0"/>
              <a:t>• MAE = 0.6377</a:t>
            </a:r>
            <a:br>
              <a:rPr lang="pt-BR" dirty="0"/>
            </a:br>
            <a:r>
              <a:rPr lang="pt-BR" dirty="0"/>
              <a:t>• RMSE = 2.047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AA147-9824-3F05-5099-33A9A886EC01}"/>
              </a:ext>
            </a:extLst>
          </p:cNvPr>
          <p:cNvSpPr txBox="1"/>
          <p:nvPr/>
        </p:nvSpPr>
        <p:spPr>
          <a:xfrm>
            <a:off x="0" y="3892980"/>
            <a:ext cx="9311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Tuning improved model performance and ensured stable generalization.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13041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80627-9F94-2A5F-28BD-830C8401A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07346"/>
          </a:xfrm>
        </p:spPr>
        <p:txBody>
          <a:bodyPr>
            <a:normAutofit/>
          </a:bodyPr>
          <a:lstStyle/>
          <a:p>
            <a:r>
              <a:rPr lang="en-IN" b="1"/>
              <a:t>ANN Performance Improvement &amp; Model Comparison</a:t>
            </a:r>
            <a:endParaRPr lang="en-IN" b="1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450BD8C-15FD-FE2F-E0CF-713A304ECD6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9403738"/>
              </p:ext>
            </p:extLst>
          </p:nvPr>
        </p:nvGraphicFramePr>
        <p:xfrm>
          <a:off x="0" y="1098958"/>
          <a:ext cx="5789102" cy="5905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F820BBF-61A4-9213-5217-6F7209A92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958981"/>
              </p:ext>
            </p:extLst>
          </p:nvPr>
        </p:nvGraphicFramePr>
        <p:xfrm>
          <a:off x="6028889" y="2181138"/>
          <a:ext cx="6096000" cy="30074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93635716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7283305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200795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595694296"/>
                    </a:ext>
                  </a:extLst>
                </a:gridCol>
              </a:tblGrid>
              <a:tr h="729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R²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5083342"/>
                  </a:ext>
                </a:extLst>
              </a:tr>
              <a:tr h="759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40.79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3020052"/>
                  </a:ext>
                </a:extLst>
              </a:tr>
              <a:tr h="759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2.11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878780"/>
                  </a:ext>
                </a:extLst>
              </a:tr>
              <a:tr h="759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ANN (Tuned)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0.159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56.93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853755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B921CCF-BB54-5622-2CBC-F131174C474A}"/>
              </a:ext>
            </a:extLst>
          </p:cNvPr>
          <p:cNvSpPr txBox="1"/>
          <p:nvPr/>
        </p:nvSpPr>
        <p:spPr>
          <a:xfrm>
            <a:off x="6249798" y="1392572"/>
            <a:ext cx="40174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Final Comparison: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2786351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89999-DC31-DF5B-A815-3DABBA191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174458"/>
          </a:xfrm>
        </p:spPr>
        <p:txBody>
          <a:bodyPr/>
          <a:lstStyle/>
          <a:p>
            <a:r>
              <a:rPr lang="en-IN" b="1" dirty="0"/>
              <a:t>Model Deployment (Web Application)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FBC57CB-860C-E262-6CB4-9719B7DBF42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6193"/>
            <a:ext cx="5738070" cy="457232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F741F4-E3B2-995B-2FBA-D4934BDDE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38070" y="1736193"/>
            <a:ext cx="6300132" cy="44407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Real-world application of the machine learning model</a:t>
            </a:r>
          </a:p>
          <a:p>
            <a:pPr marL="0" indent="0">
              <a:buNone/>
            </a:pPr>
            <a:r>
              <a:rPr lang="en-US" dirty="0"/>
              <a:t>• Flask-based web application</a:t>
            </a:r>
            <a:br>
              <a:rPr lang="en-US" dirty="0"/>
            </a:br>
            <a:r>
              <a:rPr lang="en-US" dirty="0"/>
              <a:t>• User inputs features</a:t>
            </a:r>
            <a:br>
              <a:rPr lang="en-US" dirty="0"/>
            </a:br>
            <a:r>
              <a:rPr lang="en-US" dirty="0"/>
              <a:t>• Predicts CO₂ emissions</a:t>
            </a:r>
            <a:br>
              <a:rPr lang="en-US" dirty="0"/>
            </a:br>
            <a:r>
              <a:rPr lang="en-US" dirty="0"/>
              <a:t>• Uses Random Forest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90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4977-5790-8655-9B78-2380B06C5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Insights from model Analysis</a:t>
            </a:r>
            <a:endParaRPr lang="en-IN" b="1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343EAD7-7FBA-A7BE-2C56-5D80C7D00A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Model Outperformance</a:t>
            </a:r>
          </a:p>
          <a:p>
            <a:pPr marL="0" indent="0">
              <a:buNone/>
            </a:pPr>
            <a:r>
              <a:rPr lang="en-US" dirty="0"/>
              <a:t>Random Forest significantly outperformed Linear Regression, capturing complex non-linear patterns.</a:t>
            </a:r>
          </a:p>
          <a:p>
            <a:pPr marL="0" indent="0">
              <a:buNone/>
            </a:pPr>
            <a:r>
              <a:rPr lang="en-US" b="1" dirty="0"/>
              <a:t>2. Dominant Predictor</a:t>
            </a:r>
          </a:p>
          <a:p>
            <a:pPr marL="0" indent="0">
              <a:buNone/>
            </a:pPr>
            <a:r>
              <a:rPr lang="en-US" dirty="0"/>
              <a:t>CO₂ per GDP (PPP) is the most influential feature, highlighting the role of economic carbon efficiency.</a:t>
            </a:r>
          </a:p>
          <a:p>
            <a:endParaRPr lang="en-IN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64688C9-03A9-DA22-7E7E-AAEAAD9A83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Greenhouse Gas Impact</a:t>
            </a:r>
          </a:p>
          <a:p>
            <a:pPr marL="0" indent="0">
              <a:buNone/>
            </a:pPr>
            <a:r>
              <a:rPr lang="en-US" dirty="0"/>
              <a:t>Methane (CH₄) and N₂O show moderate contribution alongside economic factors.</a:t>
            </a:r>
          </a:p>
          <a:p>
            <a:pPr marL="0" indent="0">
              <a:buNone/>
            </a:pPr>
            <a:r>
              <a:rPr lang="en-US" b="1" dirty="0"/>
              <a:t>4. Economic Carbon Intensity</a:t>
            </a:r>
          </a:p>
          <a:p>
            <a:pPr marL="0" indent="0">
              <a:buNone/>
            </a:pPr>
            <a:r>
              <a:rPr lang="en-US" dirty="0"/>
              <a:t>Economic indicators are more critical than renewable energy in explaining CO₂ emissions.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8434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D83E6-1B3C-2CC9-AFB3-BB35E3440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964733"/>
          </a:xfrm>
        </p:spPr>
        <p:txBody>
          <a:bodyPr/>
          <a:lstStyle/>
          <a:p>
            <a:r>
              <a:rPr lang="en-US" b="1" dirty="0"/>
              <a:t>World Bank vs Our Findings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E1303-03C0-EE22-8622-390B6B632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136" y="1003504"/>
            <a:ext cx="5181600" cy="210042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World Bank Insights</a:t>
            </a:r>
          </a:p>
          <a:p>
            <a:pPr marL="0" indent="0">
              <a:buNone/>
            </a:pPr>
            <a:r>
              <a:rPr lang="en-US" dirty="0"/>
              <a:t>• Industrial and large economies contribute the most to global CO₂ emissions.</a:t>
            </a:r>
          </a:p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A9CD9-7E40-9852-D869-A72578A1D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3688" y="1003505"/>
            <a:ext cx="5271782" cy="22849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Our ML Findings</a:t>
            </a:r>
          </a:p>
          <a:p>
            <a:pPr marL="0" indent="0">
              <a:buNone/>
            </a:pPr>
            <a:r>
              <a:rPr lang="en-US" dirty="0"/>
              <a:t>• Carbon intensity indicators are the strongest predictors.</a:t>
            </a:r>
            <a:br>
              <a:rPr lang="en-US" dirty="0"/>
            </a:br>
            <a:r>
              <a:rPr lang="en-US" dirty="0"/>
              <a:t>• Renewable energy alone has limited direct impact.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A9A893-9A84-54EC-E235-852DBF3225F3}"/>
              </a:ext>
            </a:extLst>
          </p:cNvPr>
          <p:cNvSpPr txBox="1"/>
          <p:nvPr/>
        </p:nvSpPr>
        <p:spPr>
          <a:xfrm>
            <a:off x="234892" y="3749879"/>
            <a:ext cx="93537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Conclusion:</a:t>
            </a:r>
          </a:p>
          <a:p>
            <a:r>
              <a:rPr lang="en-US" sz="2400" dirty="0"/>
              <a:t>Economic structure and carbon efficiency are the key drivers of CO₂ emissions, highlighting the need for effective decarbonization strategies.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4944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6">
            <a:extLst>
              <a:ext uri="{FF2B5EF4-FFF2-40B4-BE49-F238E27FC236}">
                <a16:creationId xmlns:a16="http://schemas.microsoft.com/office/drawing/2014/main" id="{B7ED3C0E-A786-6200-FE81-3C6BA048D0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2DB251-B40E-02E4-1AFD-5971EB676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030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157</TotalTime>
  <Words>820</Words>
  <Application>Microsoft Office PowerPoint</Application>
  <PresentationFormat>Widescreen</PresentationFormat>
  <Paragraphs>133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Analyzing the Drivers of CO₂ Emissions:  A Multi-Factor Analysis </vt:lpstr>
      <vt:lpstr>Project Overview &amp; Context </vt:lpstr>
      <vt:lpstr>Data Refinement &amp; Preparation </vt:lpstr>
      <vt:lpstr>CO₂ vs Renewable Energy Trends Over Time</vt:lpstr>
      <vt:lpstr>Models: Baselines &amp; Advanced</vt:lpstr>
      <vt:lpstr>Correlation Analysis     Feature Importance</vt:lpstr>
      <vt:lpstr>Reduced Features Experiment: Role of Renewable Energy</vt:lpstr>
      <vt:lpstr>Hypothesis Testing: Renewable Energy’s Impact</vt:lpstr>
      <vt:lpstr>Visual Model Evaluation</vt:lpstr>
      <vt:lpstr>Hyperparameter Tuning</vt:lpstr>
      <vt:lpstr>ANN Performance Improvement &amp; Model Comparison</vt:lpstr>
      <vt:lpstr>Model Deployment (Web Application)</vt:lpstr>
      <vt:lpstr>Key Insights from model Analysis</vt:lpstr>
      <vt:lpstr>World Bank vs Our Findings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Ravina Ror</dc:creator>
  <cp:lastModifiedBy>Ravina Ror</cp:lastModifiedBy>
  <cp:revision>4</cp:revision>
  <dcterms:created xsi:type="dcterms:W3CDTF">2026-04-13T04:30:42Z</dcterms:created>
  <dcterms:modified xsi:type="dcterms:W3CDTF">2026-04-24T16:29:45Z</dcterms:modified>
</cp:coreProperties>
</file>